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d4f8a19e714a8a" /><Relationship Type="http://schemas.openxmlformats.org/officeDocument/2006/relationships/extended-properties" Target="/docProps/app.xml" Id="R7a82dc8161ca4f8e" /><Relationship Type="http://schemas.openxmlformats.org/officeDocument/2006/relationships/officeDocument" Target="/ppt/presentation.xml" Id="R4e6a77198e8d49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06e61068964ee7"/>
  </p:sldMasterIdLst>
  <p:notesMasterIdLst>
    <p:notesMasterId xmlns:r="http://schemas.openxmlformats.org/officeDocument/2006/relationships" r:id="R07727297dcc34906"/>
  </p:notesMasterIdLst>
  <p:sldIdLst>
    <p:sldId xmlns:r="http://schemas.openxmlformats.org/officeDocument/2006/relationships" id="256" r:id="R92e7c98d6bc84196"/>
    <p:sldId xmlns:r="http://schemas.openxmlformats.org/officeDocument/2006/relationships" id="257" r:id="R7902b98657464686"/>
    <p:sldId xmlns:r="http://schemas.openxmlformats.org/officeDocument/2006/relationships" id="258" r:id="R5ca67bd833c84ec5"/>
    <p:sldId xmlns:r="http://schemas.openxmlformats.org/officeDocument/2006/relationships" id="259" r:id="Ra9d8188da05f4eae"/>
    <p:sldId xmlns:r="http://schemas.openxmlformats.org/officeDocument/2006/relationships" id="260" r:id="Rd39927c1daef4ca0"/>
    <p:sldId xmlns:r="http://schemas.openxmlformats.org/officeDocument/2006/relationships" id="261" r:id="R6d057cfcb2db4e5a"/>
    <p:sldId xmlns:r="http://schemas.openxmlformats.org/officeDocument/2006/relationships" id="262" r:id="R00ccad59348342f4"/>
    <p:sldId xmlns:r="http://schemas.openxmlformats.org/officeDocument/2006/relationships" id="263" r:id="R8d6ec73a5bcf43ae"/>
    <p:sldId xmlns:r="http://schemas.openxmlformats.org/officeDocument/2006/relationships" id="264" r:id="R8f0bc37fc5a54668"/>
    <p:sldId xmlns:r="http://schemas.openxmlformats.org/officeDocument/2006/relationships" id="265" r:id="R75bcd12e1042475c"/>
    <p:sldId xmlns:r="http://schemas.openxmlformats.org/officeDocument/2006/relationships" id="266" r:id="R66e40e53b53b47c7"/>
    <p:sldId xmlns:r="http://schemas.openxmlformats.org/officeDocument/2006/relationships" id="267" r:id="R8976c709600d40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51ecec26d346a8" /><Relationship Type="http://schemas.openxmlformats.org/officeDocument/2006/relationships/slideMaster" Target="/ppt/slideMasters/slideMaster1.xml" Id="R4206e61068964ee7" /><Relationship Type="http://schemas.openxmlformats.org/officeDocument/2006/relationships/notesMaster" Target="/ppt/notesMasters/notesMaster1.xml" Id="R07727297dcc34906" /><Relationship Type="http://schemas.openxmlformats.org/officeDocument/2006/relationships/presProps" Target="/ppt/presProps.xml" Id="Rbf5a70a34b554224" /><Relationship Type="http://schemas.openxmlformats.org/officeDocument/2006/relationships/viewProps" Target="/ppt/viewProps.xml" Id="R3b96c660470b45c9" /><Relationship Type="http://schemas.openxmlformats.org/officeDocument/2006/relationships/tableStyles" Target="/ppt/tableStyles.xml" Id="R5a0372cae5d7429d" /><Relationship Type="http://schemas.openxmlformats.org/officeDocument/2006/relationships/slide" Target="/ppt/slides/slide1.xml" Id="R92e7c98d6bc84196" /><Relationship Type="http://schemas.openxmlformats.org/officeDocument/2006/relationships/slide" Target="/ppt/slides/slide2.xml" Id="R7902b98657464686" /><Relationship Type="http://schemas.openxmlformats.org/officeDocument/2006/relationships/slide" Target="/ppt/slides/slide3.xml" Id="R5ca67bd833c84ec5" /><Relationship Type="http://schemas.openxmlformats.org/officeDocument/2006/relationships/slide" Target="/ppt/slides/slide4.xml" Id="Ra9d8188da05f4eae" /><Relationship Type="http://schemas.openxmlformats.org/officeDocument/2006/relationships/slide" Target="/ppt/slides/slide5.xml" Id="Rd39927c1daef4ca0" /><Relationship Type="http://schemas.openxmlformats.org/officeDocument/2006/relationships/slide" Target="/ppt/slides/slide6.xml" Id="R6d057cfcb2db4e5a" /><Relationship Type="http://schemas.openxmlformats.org/officeDocument/2006/relationships/slide" Target="/ppt/slides/slide7.xml" Id="R00ccad59348342f4" /><Relationship Type="http://schemas.openxmlformats.org/officeDocument/2006/relationships/slide" Target="/ppt/slides/slide8.xml" Id="R8d6ec73a5bcf43ae" /><Relationship Type="http://schemas.openxmlformats.org/officeDocument/2006/relationships/slide" Target="/ppt/slides/slide9.xml" Id="R8f0bc37fc5a54668" /><Relationship Type="http://schemas.openxmlformats.org/officeDocument/2006/relationships/slide" Target="/ppt/slides/slide10.xml" Id="R75bcd12e1042475c" /><Relationship Type="http://schemas.openxmlformats.org/officeDocument/2006/relationships/slide" Target="/ppt/slides/slide11.xml" Id="R66e40e53b53b47c7" /><Relationship Type="http://schemas.openxmlformats.org/officeDocument/2006/relationships/slide" Target="/ppt/slides/slide12.xml" Id="R8976c709600d40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5946f6e03c48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26b8ba9c914e05" /><Relationship Type="http://schemas.openxmlformats.org/officeDocument/2006/relationships/notesMaster" Target="/ppt/notesMasters/notesMaster1.xml" Id="R9fb275fabcba45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4fb0eccd394371" /><Relationship Type="http://schemas.openxmlformats.org/officeDocument/2006/relationships/notesMaster" Target="/ppt/notesMasters/notesMaster1.xml" Id="R7f7cb0481db340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3ef49f2ba84959" /><Relationship Type="http://schemas.openxmlformats.org/officeDocument/2006/relationships/notesMaster" Target="/ppt/notesMasters/notesMaster1.xml" Id="Red68506bcc324a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d9902128f34a88" /><Relationship Type="http://schemas.openxmlformats.org/officeDocument/2006/relationships/notesMaster" Target="/ppt/notesMasters/notesMaster1.xml" Id="R1dbb51ad372249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d089263b26e45b6" /><Relationship Type="http://schemas.openxmlformats.org/officeDocument/2006/relationships/notesMaster" Target="/ppt/notesMasters/notesMaster1.xml" Id="R12d40f00c3c845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3dd0ae16dd4621" /><Relationship Type="http://schemas.openxmlformats.org/officeDocument/2006/relationships/notesMaster" Target="/ppt/notesMasters/notesMaster1.xml" Id="Rd5c25628adbc4d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cd7153bcf043da" /><Relationship Type="http://schemas.openxmlformats.org/officeDocument/2006/relationships/notesMaster" Target="/ppt/notesMasters/notesMaster1.xml" Id="Ra0278d43cfcc4d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06629fa8634cdb" /><Relationship Type="http://schemas.openxmlformats.org/officeDocument/2006/relationships/notesMaster" Target="/ppt/notesMasters/notesMaster1.xml" Id="R5ac51e7a533249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5e835d6a944504" /><Relationship Type="http://schemas.openxmlformats.org/officeDocument/2006/relationships/notesMaster" Target="/ppt/notesMasters/notesMaster1.xml" Id="R54acf5cf5c754b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639eb0759f424b" /><Relationship Type="http://schemas.openxmlformats.org/officeDocument/2006/relationships/notesMaster" Target="/ppt/notesMasters/notesMaster1.xml" Id="R6c1ee6f4cda6412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f009ee31af4c6f" /><Relationship Type="http://schemas.openxmlformats.org/officeDocument/2006/relationships/notesMaster" Target="/ppt/notesMasters/notesMaster1.xml" Id="R004ba4406dbb421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e0dccc050e441c6" /><Relationship Type="http://schemas.openxmlformats.org/officeDocument/2006/relationships/notesMaster" Target="/ppt/notesMasters/notesMaster1.xml" Id="Re6ba7e606cdd44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74358d27314a8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660cacfa44400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ea74d943ae49a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1185e05f1e470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528c02b253450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f84bdaede9491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c5a2edef844f6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f59a978fe34e6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770f1ffac7411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cb6771177b4dd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342d244dfe4792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5D4906B-60A4-4320-863D-C7190CA92DC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56CFB54-39F6-44BF-945E-35FF645EA4E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E0646FD-0D47-4DA3-A6CD-D5E9BA5C2E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F85B28D-6E4B-4ACF-BD0E-E264C94CE9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B7C40AA-FB03-44BB-BAC9-7DA9DAC243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54029A-ED2C-4DC5-B658-A5CF611543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5A61BE4-B660-4AA4-AB33-460A3296418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DD1725C-5746-460A-8819-5C5D6624BF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2CB566D-25C9-475D-A6B0-D0E7419ADA1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357B492-DF4F-4EE2-89F0-25944AEA27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A62F107-F25D-4C44-B531-ACB5A940E9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BB46FF6-5614-427E-B40B-D0E6E81390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C48A261-8F45-4377-B8FF-9781DBEA8E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F2B6995-AD28-4209-B127-1B93BA3B0A8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8CD60E9-EEA1-4BC4-9816-DEBF9DB4CE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D2BDAAB-AB9D-4853-B1EB-E2815095B7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261D1D0-0924-4D70-B06F-56E090587A5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BA8A6F6-7FEF-4AB8-AE47-90A4AE0A413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FED1FC0-763B-4565-A01F-D13A25CB19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81914DD-246F-4E0F-90BA-2F5F312F35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18FE311-A79B-4AE6-AC6F-028A764D415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65F0613-5A13-4A04-AC24-81A24ECE5E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A4E5D2-FF7F-40C8-8AF2-B28051527D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5883F73-2DFB-4BEB-81F6-734154C53CE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3F07944-475D-4D7A-B83D-F4BDBA61950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67E2F8E8-9DFB-4D60-B08A-9645498598D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C23E459D-2D03-40A1-AEE2-2A63E94054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AD26283-1122-42AA-A5CB-6BCD9C5650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F99312C-A024-4BC1-97AE-E8FACC4A5A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9CFDA8A-73E6-4B1E-A4BA-D5CA0E900D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1E9A16A-7549-4237-9B4E-26445F7BCA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B08D2CB-7B57-487A-B0BE-A4AA53CA43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4916F6A6-B471-4B6B-8859-B44DE2ACA5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57E35B8-4BA9-4B98-8B61-6A9C42E177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2FC9BBA8-94D1-4A93-A6C5-D661CF5AC9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1178EFA-BB80-4EC0-A86F-9F7BDD9FA9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C40C5F2-9309-4367-B28E-B58FBAEC00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9A3708-AAC5-44DB-8D58-38919A5E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C7F4CE1-5947-4626-9B0C-A99B298538E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87ED67F-8DAE-45AF-A005-B50E8FB453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75CEB09-43F2-4428-8463-951A7AF573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308B26D-2DE3-4C20-AB90-C99A0FC912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501D1A-9B1D-4ACB-B68D-5DC38EE52C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224C367-D7B9-4248-BD71-AE55A5AEE75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989DE34-52D1-47B8-AC80-DA830EA3AFC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33D7F8E-173E-474F-B722-0B7387BBF6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BD50A62-E190-4C96-8624-C2FEF2B91D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9ECFE9C-AD96-446B-A895-A9A7DC5975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98E1B66-9955-447D-A1C9-0B97A36FDB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835770E-F3DD-4EC7-834D-4A89346267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7075E1-E5B3-4BC0-A596-57EBEE4CFF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670BF51-F7A1-44F0-90CA-C39E5515BA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2FC92B3-748C-4E68-BD36-F8D8FDA775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4E58F39-62F0-4093-BBF2-85095AC3FD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01E9A4C-8876-41F4-8E77-CA44476915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2C46DCF-EBF6-489B-9EF9-C98797EDD94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DAB027D-FB96-4269-BCFB-E4CA340BA9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88DC62-0556-4829-8618-B9F11E4E02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2c83a831bc4dca" /><Relationship Type="http://schemas.openxmlformats.org/officeDocument/2006/relationships/slideLayout" Target="/ppt/slideLayouts/slideLayout1.xml" Id="Rb8b383a205044e8f" /><Relationship Type="http://schemas.openxmlformats.org/officeDocument/2006/relationships/slideLayout" Target="/ppt/slideLayouts/slideLayout2.xml" Id="R924b63742127480f" /><Relationship Type="http://schemas.openxmlformats.org/officeDocument/2006/relationships/slideLayout" Target="/ppt/slideLayouts/slideLayout3.xml" Id="Radd7f21c3d22411a" /><Relationship Type="http://schemas.openxmlformats.org/officeDocument/2006/relationships/slideLayout" Target="/ppt/slideLayouts/slideLayout4.xml" Id="R9b719e6373654a1d" /><Relationship Type="http://schemas.openxmlformats.org/officeDocument/2006/relationships/slideLayout" Target="/ppt/slideLayouts/slideLayout5.xml" Id="R2531554f8625482d" /><Relationship Type="http://schemas.openxmlformats.org/officeDocument/2006/relationships/slideLayout" Target="/ppt/slideLayouts/slideLayout6.xml" Id="Ra7363e5c3c114753" /><Relationship Type="http://schemas.openxmlformats.org/officeDocument/2006/relationships/slideLayout" Target="/ppt/slideLayouts/slideLayout7.xml" Id="R08a9409cfb4f44d9" /><Relationship Type="http://schemas.openxmlformats.org/officeDocument/2006/relationships/slideLayout" Target="/ppt/slideLayouts/slideLayout8.xml" Id="Rd5232942878549bf" /><Relationship Type="http://schemas.openxmlformats.org/officeDocument/2006/relationships/slideLayout" Target="/ppt/slideLayouts/slideLayout9.xml" Id="Rb0840f10297c4c29" /><Relationship Type="http://schemas.openxmlformats.org/officeDocument/2006/relationships/slideLayout" Target="/ppt/slideLayouts/slideLayout10.xml" Id="Re8f832a5eb664ffc" /><Relationship Type="http://schemas.openxmlformats.org/officeDocument/2006/relationships/slideLayout" Target="/ppt/slideLayouts/slideLayout11.xml" Id="R7abe870946284f9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D25CD36-2122-4713-AB67-2533F91287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C3FF750-ADFE-49B2-86CD-8C14A43020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3FABBE-4416-4106-A538-EF2BEB0C70E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9/9/2026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16E5C99-30A3-4D64-902D-B715E61018B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9B1838-25E9-4C5A-AE10-C14BE17ACCC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b383a205044e8f"/>
    <p:sldLayoutId xmlns:r="http://schemas.openxmlformats.org/officeDocument/2006/relationships" id="2147483650" r:id="R924b63742127480f"/>
    <p:sldLayoutId xmlns:r="http://schemas.openxmlformats.org/officeDocument/2006/relationships" id="2147483651" r:id="Radd7f21c3d22411a"/>
    <p:sldLayoutId xmlns:r="http://schemas.openxmlformats.org/officeDocument/2006/relationships" id="2147483652" r:id="R9b719e6373654a1d"/>
    <p:sldLayoutId xmlns:r="http://schemas.openxmlformats.org/officeDocument/2006/relationships" id="2147483653" r:id="R2531554f8625482d"/>
    <p:sldLayoutId xmlns:r="http://schemas.openxmlformats.org/officeDocument/2006/relationships" id="2147483654" r:id="Ra7363e5c3c114753"/>
    <p:sldLayoutId xmlns:r="http://schemas.openxmlformats.org/officeDocument/2006/relationships" id="2147483655" r:id="R08a9409cfb4f44d9"/>
    <p:sldLayoutId xmlns:r="http://schemas.openxmlformats.org/officeDocument/2006/relationships" id="2147483656" r:id="Rd5232942878549bf"/>
    <p:sldLayoutId xmlns:r="http://schemas.openxmlformats.org/officeDocument/2006/relationships" id="2147483657" r:id="Rb0840f10297c4c29"/>
    <p:sldLayoutId xmlns:r="http://schemas.openxmlformats.org/officeDocument/2006/relationships" id="2147483658" r:id="Re8f832a5eb664ffc"/>
    <p:sldLayoutId xmlns:r="http://schemas.openxmlformats.org/officeDocument/2006/relationships" id="2147483659" r:id="R7abe870946284f9a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c52ca33aaf0421f" /><Relationship Type="http://schemas.openxmlformats.org/officeDocument/2006/relationships/notesSlide" Target="/ppt/notesSlides/notesSlide1.xml" Id="R255f5dc92c464a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c579c977d7c4969" /><Relationship Type="http://schemas.openxmlformats.org/officeDocument/2006/relationships/notesSlide" Target="/ppt/notesSlides/notesSlide2.xml" Id="Rfa74efe321ab4e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d0abf8eb4414a65" /><Relationship Type="http://schemas.openxmlformats.org/officeDocument/2006/relationships/notesSlide" Target="/ppt/notesSlides/notesSlide3.xml" Id="R3f934187ed4840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bc4a079db3c4af4" /><Relationship Type="http://schemas.openxmlformats.org/officeDocument/2006/relationships/notesSlide" Target="/ppt/notesSlides/notesSlide4.xml" Id="R72d4bdc5e59b43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3b30a9ee2714c96" /><Relationship Type="http://schemas.openxmlformats.org/officeDocument/2006/relationships/notesSlide" Target="/ppt/notesSlides/notesSlide5.xml" Id="R4dd033eacee147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452b0b1e42c4a93" /><Relationship Type="http://schemas.openxmlformats.org/officeDocument/2006/relationships/notesSlide" Target="/ppt/notesSlides/notesSlide6.xml" Id="R29e77d09cfe440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255c53032824c93" /><Relationship Type="http://schemas.openxmlformats.org/officeDocument/2006/relationships/notesSlide" Target="/ppt/notesSlides/notesSlide7.xml" Id="R65e3533dac634a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654236995504337" /><Relationship Type="http://schemas.openxmlformats.org/officeDocument/2006/relationships/notesSlide" Target="/ppt/notesSlides/notesSlide8.xml" Id="R383712218a2b4a8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74876447c3f41ce" /><Relationship Type="http://schemas.openxmlformats.org/officeDocument/2006/relationships/notesSlide" Target="/ppt/notesSlides/notesSlide9.xml" Id="Rfc781025cbc34f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0e1ae07530347b3" /><Relationship Type="http://schemas.openxmlformats.org/officeDocument/2006/relationships/notesSlide" Target="/ppt/notesSlides/notesSlide10.xml" Id="Ra33b0d2f9c0c4ac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636c51ce7664d73" /><Relationship Type="http://schemas.openxmlformats.org/officeDocument/2006/relationships/notesSlide" Target="/ppt/notesSlides/notesSlide11.xml" Id="R50ebf7a85e19469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5e7c31e0c7d495c" /><Relationship Type="http://schemas.openxmlformats.org/officeDocument/2006/relationships/notesSlide" Target="/ppt/notesSlides/notesSlide12.xml" Id="Rabca25d67bd84ca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ED53CC-CA4A-48CD-8250-3609A0DB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1EA1AB4-EC05-475A-9C57-8696AA70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A986678-4F9D-4EE6-A795-9997460C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9496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C2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6A125D8-D4E3-41F5-AF4F-4135FF0E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1069848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ИИ-консультант музеев</a:t>
            </a:r>
            <a:b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Казанского Кремля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C404FB6-5124-4C7A-A72F-6FCDD8D8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0"/>
            <a:ext cx="10698480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Итоговая</a:t>
            </a: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аттестация</a:t>
            </a: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·  </a:t>
            </a: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курс</a:t>
            </a: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«ИИ-</a:t>
            </a: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разработчик</a:t>
            </a: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: </a:t>
            </a: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от</a:t>
            </a: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API </a:t>
            </a: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до</a:t>
            </a: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агентов</a:t>
            </a:r>
            <a:r>
              <a:rPr sz="18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»</a:t>
            </a:r>
          </a:p>
          <a:p xmlns:a="http://schemas.openxmlformats.org/drawingml/2006/main">
            <a:r>
              <a:rPr sz="1600">
                <a:solidFill>
                  <a:srgbClr val="C5D0DE"/>
                </a:solidFill>
                <a:latin typeface="Calibri"/>
                <a:ea typeface="Calibri"/>
                <a:cs typeface="Calibri"/>
              </a:rPr>
              <a:t>Мингараева</a:t>
            </a:r>
            <a:r>
              <a:rPr sz="1600">
                <a:solidFill>
                  <a:srgbClr val="C5D0DE"/>
                </a:solidFill>
                <a:latin typeface="Calibri"/>
                <a:ea typeface="Calibri"/>
                <a:cs typeface="Calibri"/>
              </a:rPr>
              <a:t> Алина </a:t>
            </a:r>
            <a:r>
              <a:rPr sz="1600" b="0">
                <a:solidFill>
                  <a:srgbClr val="C5D0DE"/>
                </a:solidFill>
                <a:latin typeface="Calibri"/>
                <a:ea typeface="Calibri"/>
                <a:cs typeface="Calibri"/>
              </a:rPr>
              <a:t>2026</a:t>
            </a:r>
          </a:p>
          <a:p xmlns:a="http://schemas.openxmlformats.org/drawingml/2006/main">
            <a:r>
              <a:rPr sz="1400" b="0">
                <a:solidFill>
                  <a:srgbClr val="A0B4C8"/>
                </a:solidFill>
                <a:latin typeface="Calibri"/>
                <a:ea typeface="Calibri"/>
                <a:cs typeface="Calibri"/>
              </a:rPr>
              <a:t>Telegram-</a:t>
            </a:r>
            <a:r>
              <a:rPr sz="1400" b="0">
                <a:solidFill>
                  <a:srgbClr val="A0B4C8"/>
                </a:solidFill>
                <a:latin typeface="Calibri"/>
                <a:ea typeface="Calibri"/>
                <a:cs typeface="Calibri"/>
              </a:rPr>
              <a:t>бот</a:t>
            </a:r>
            <a:r>
              <a:rPr sz="1400" b="0">
                <a:solidFill>
                  <a:srgbClr val="A0B4C8"/>
                </a:solidFill>
                <a:latin typeface="Calibri"/>
                <a:ea typeface="Calibri"/>
                <a:cs typeface="Calibri"/>
              </a:rPr>
              <a:t> + </a:t>
            </a:r>
            <a:r>
              <a:rPr sz="1400" b="0">
                <a:solidFill>
                  <a:srgbClr val="A0B4C8"/>
                </a:solidFill>
                <a:latin typeface="Calibri"/>
                <a:ea typeface="Calibri"/>
                <a:cs typeface="Calibri"/>
              </a:rPr>
              <a:t>FastAPI</a:t>
            </a:r>
            <a:r>
              <a:rPr sz="1400" b="0">
                <a:solidFill>
                  <a:srgbClr val="A0B4C8"/>
                </a:solidFill>
                <a:latin typeface="Calibri"/>
                <a:ea typeface="Calibri"/>
                <a:cs typeface="Calibri"/>
              </a:rPr>
              <a:t> + RAG (</a:t>
            </a:r>
            <a:r>
              <a:rPr sz="1400" b="0">
                <a:solidFill>
                  <a:srgbClr val="A0B4C8"/>
                </a:solidFill>
                <a:latin typeface="Calibri"/>
                <a:ea typeface="Calibri"/>
                <a:cs typeface="Calibri"/>
              </a:rPr>
              <a:t>Qdrant</a:t>
            </a:r>
            <a:r>
              <a:rPr sz="1400" b="0">
                <a:solidFill>
                  <a:srgbClr val="A0B4C8"/>
                </a:solidFill>
                <a:latin typeface="Calibri"/>
                <a:ea typeface="Calibri"/>
                <a:cs typeface="Calibri"/>
              </a:rPr>
              <a:t>) + </a:t>
            </a:r>
            <a:r>
              <a:rPr sz="1400" b="0">
                <a:solidFill>
                  <a:srgbClr val="A0B4C8"/>
                </a:solidFill>
                <a:latin typeface="Calibri"/>
                <a:ea typeface="Calibri"/>
                <a:cs typeface="Calibri"/>
              </a:rPr>
              <a:t>агент</a:t>
            </a:r>
            <a:r>
              <a:rPr sz="1400" b="0">
                <a:solidFill>
                  <a:srgbClr val="A0B4C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>
                <a:solidFill>
                  <a:srgbClr val="A0B4C8"/>
                </a:solidFill>
                <a:latin typeface="Calibri"/>
                <a:ea typeface="Calibri"/>
                <a:cs typeface="Calibri"/>
              </a:rPr>
              <a:t>LangGraph</a:t>
            </a:r>
            <a:r>
              <a:rPr sz="1400" b="0">
                <a:solidFill>
                  <a:srgbClr val="A0B4C8"/>
                </a:solidFill>
                <a:latin typeface="Calibri"/>
                <a:ea typeface="Calibri"/>
                <a:cs typeface="Calibri"/>
              </a:rPr>
              <a:t> с </a:t>
            </a:r>
            <a:r>
              <a:rPr sz="1400" b="0">
                <a:solidFill>
                  <a:srgbClr val="A0B4C8"/>
                </a:solidFill>
                <a:latin typeface="Calibri"/>
                <a:ea typeface="Calibri"/>
                <a:cs typeface="Calibri"/>
              </a:rPr>
              <a:t>подтверждением</a:t>
            </a:r>
            <a:endParaRPr sz="1400" b="0">
              <a:solidFill>
                <a:srgbClr val="A0B4C8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2754951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32E242A-4FB1-454B-9ABD-5ACB27ED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8480FF0-D88B-4B73-AE5F-A9773E06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C2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ED41D39-16A9-4F7E-8114-50FF7A79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0528"/>
            <a:ext cx="12191695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ИИ-консультант музеев Казанского Кремля   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3239712-7A87-4C75-84E2-ED0DB793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11247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1A365D"/>
                </a:solidFill>
                <a:latin typeface="Calibri"/>
                <a:ea typeface="Calibri"/>
                <a:cs typeface="Calibri"/>
              </a:rPr>
              <a:t>Задача и пользователь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4D69AC5-3666-4BD8-AC21-0579409A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8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•  Пользователь — посетитель Казанского Кремля в Telegram: по дороге, в очереди, с телефона.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8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•  Темы: часы, билеты, телефоны, правила, экскурсии, дорога и текущие выставки.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8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•  Свободный вопрос работает без кнопок. Свежая афиша берётся с официального сайта, устойчивые факты — из RAG.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8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•  Если официальный источник не подтверждает факт, бот честно сообщает об этом.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8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•  Администратор видит статистику и может сделать рассылку; внутренняя CRM не входит в проект.</a:t>
            </a:r>
          </a:p>
        </p:txBody>
      </p:sp>
    </p:spTree>
    <p:extLst>
      <p:ext uri="{BB962C8B-B14F-4D97-AF65-F5344CB8AC3E}">
        <p14:creationId xmlns:p14="http://schemas.microsoft.com/office/powerpoint/2010/main" val="84853608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FCD73C7-26BA-470E-BB23-3C91B96F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55C5804-FC39-4CF1-97D6-5AAE83B5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C2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A3DC6F5-D4BC-4B29-9A30-125B3CAC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0528"/>
            <a:ext cx="12191695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ИИ-консультант музеев Казанского Кремля   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70AF402-D5B6-49EE-ACCA-2D6C755B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11247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1A365D"/>
                </a:solidFill>
                <a:latin typeface="Calibri"/>
                <a:ea typeface="Calibri"/>
                <a:cs typeface="Calibri"/>
              </a:rPr>
              <a:t>Почему здесь нужен ИИ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0E7AAEC-55D8-4FEF-8FFC-5D08D954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97280"/>
            <a:ext cx="3566160" cy="4389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A36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Что выбрано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94FAEB6-1CE7-43B4-B8BC-79C1B23F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097280"/>
            <a:ext cx="3566160" cy="4389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A36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Из чего выбирали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5038FCF-9BF4-4480-A461-4EAA2206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79" y="1097280"/>
            <a:ext cx="3566160" cy="4389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528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Почему так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384287D-16DD-4584-B0CD-46DEE23F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645919"/>
            <a:ext cx="356616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Официальный сайт + RAG + кнопки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2F12840-071D-482A-8C35-37E4ABEC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645919"/>
            <a:ext cx="356616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Страница FAQ; поиск по словам; живой оператор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7A3E1A3-CB0E-46BB-A340-A3EDA35D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79" y="1645919"/>
            <a:ext cx="356616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Текущие события проверяются на kazan-kremlin.ru, а постоянные факты ищутся по смыслу в локальной базе.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BBD25851-E9E8-48AF-8051-3650968E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172968"/>
            <a:ext cx="356616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Отказ, если похожесть &lt; 0.38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0E8F3041-FA82-4BE9-948E-40F88C0D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172968"/>
            <a:ext cx="356616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Всегда генерировать «как ChatGPT»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F45998D9-2167-4157-AA05-1629B5A4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79" y="3172968"/>
            <a:ext cx="356616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Выдуманный телефон музея хуже молчания. Модель без документов врёт уверенно.</a:t>
            </a:r>
          </a:p>
        </p:txBody>
      </p:sp>
    </p:spTree>
    <p:extLst>
      <p:ext uri="{BB962C8B-B14F-4D97-AF65-F5344CB8AC3E}">
        <p14:creationId xmlns:p14="http://schemas.microsoft.com/office/powerpoint/2010/main" val="18445189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0BB5FEE-5D35-4310-8C99-F431665C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0F300FA-FA78-4972-9EE1-3149ADD1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C2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4F6E80E-7875-4811-91C5-3F037C98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0528"/>
            <a:ext cx="12191695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ИИ-консультант музеев Казанского Кремля   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EFA33A4-74A4-4664-AD83-4990F4AD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11247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1A365D"/>
                </a:solidFill>
                <a:latin typeface="Calibri"/>
                <a:ea typeface="Calibri"/>
                <a:cs typeface="Calibri"/>
              </a:rPr>
              <a:t>База знаний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FA3668A-A4B0-41FF-9A00-20932831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8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•  Свежие события: недельная афиша и страницы музеев на официальном сайте kazan-kremlin.ru.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8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•  Локальный RAG: часы, контакты, правила и описания площадок; исходники md/html/pdf/docx.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8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•  Маршрутизация учитывает слова «сегодня», «в выходные», даты и название конкретного музея.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8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•  Домен проверяется кодом: сторонние сайты и общие знания модели не используются.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8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•  Результат сайта кешируется примерно на 10 минут; локальная база остаётся резервом.</a:t>
            </a:r>
          </a:p>
        </p:txBody>
      </p:sp>
    </p:spTree>
    <p:extLst>
      <p:ext uri="{BB962C8B-B14F-4D97-AF65-F5344CB8AC3E}">
        <p14:creationId xmlns:p14="http://schemas.microsoft.com/office/powerpoint/2010/main" val="135634819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C288E1E-73A8-4B38-8FF8-40A36D5B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929DED5-AA05-4642-8915-9253DCA9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C2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DDEB4E3-D5D4-4C25-805D-F9A6F832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0528"/>
            <a:ext cx="12191695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ИИ-консультант музеев Казанского Кремля   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2FA7CF9-83E3-4534-A41C-9CCCF2E5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11247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1A365D"/>
                </a:solidFill>
                <a:latin typeface="Calibri"/>
                <a:ea typeface="Calibri"/>
                <a:cs typeface="Calibri"/>
              </a:rPr>
              <a:t>Архитектура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C1911E3-461C-4BC9-9AF1-D96BFFC8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7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7" name="architecture-telegram">
            <a:extLst xmlns:a="http://schemas.openxmlformats.org/drawingml/2006/main">
              <a:ext uri="{FF2B5EF4-FFF2-40B4-BE49-F238E27FC236}">
                <a16:creationId xmlns:a16="http://schemas.microsoft.com/office/drawing/2014/main" id="{301C0C24-C073-461B-9A5C-9DF0615C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76212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9AA9B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A202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Telegram-бот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A202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aiogram</a:t>
            </a:r>
          </a:p>
        </p:txBody>
      </p:sp>
      <p:sp>
        <p:nvSpPr>
          <p:cNvPr id="8" name="architecture-api">
            <a:extLst xmlns:a="http://schemas.openxmlformats.org/drawingml/2006/main">
              <a:ext uri="{FF2B5EF4-FFF2-40B4-BE49-F238E27FC236}">
                <a16:creationId xmlns:a16="http://schemas.microsoft.com/office/drawing/2014/main" id="{2F93DDF4-8513-4318-9A09-AA9283B5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381125"/>
            <a:ext cx="176212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A365D"/>
          </a:solidFill>
          <a:ln xmlns:a="http://schemas.openxmlformats.org/drawingml/2006/main" w="13335">
            <a:solidFill>
              <a:srgbClr val="9AA9B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FastAPI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ChatService</a:t>
            </a:r>
          </a:p>
        </p:txBody>
      </p:sp>
      <p:sp>
        <p:nvSpPr>
          <p:cNvPr id="9" name="architecture-guard">
            <a:extLst xmlns:a="http://schemas.openxmlformats.org/drawingml/2006/main">
              <a:ext uri="{FF2B5EF4-FFF2-40B4-BE49-F238E27FC236}">
                <a16:creationId xmlns:a16="http://schemas.microsoft.com/office/drawing/2014/main" id="{FD483194-63A2-481F-BE6A-F1D26FB8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381125"/>
            <a:ext cx="176212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9EBDD"/>
          </a:solidFill>
          <a:ln xmlns:a="http://schemas.openxmlformats.org/drawingml/2006/main" w="13335">
            <a:solidFill>
              <a:srgbClr val="9AA9B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A202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Проверка запроса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A202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модерация</a:t>
            </a:r>
          </a:p>
        </p:txBody>
      </p:sp>
      <p:cxnSp>
        <p:nvCxnSpPr>
          <p:cNvPr id="5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352675" y="18573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A365D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638675" y="18573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A365D"/>
            </a:solidFill>
            <a:prstDash val="solid"/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924675" y="18573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A365D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210675" y="18573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0">
            <a:solidFill>
              <a:srgbClr val="F7F4EF"/>
            </a:solidFill>
            <a:prstDash val="solid"/>
            <a:tailEnd type="triangle" w="sm" len="sm"/>
          </a:ln>
        </p:spPr>
      </p:cxnSp>
      <p:sp>
        <p:nvSpPr>
          <p:cNvPr id="16" name="architecture-request-label">
            <a:extLst xmlns:a="http://schemas.openxmlformats.org/drawingml/2006/main">
              <a:ext uri="{FF2B5EF4-FFF2-40B4-BE49-F238E27FC236}">
                <a16:creationId xmlns:a16="http://schemas.microsoft.com/office/drawing/2014/main" id="{C754369F-EC1E-4B8D-94B2-B27931B8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906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A365D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A365D"/>
                </a:solidFill>
                <a:latin typeface="Calibri"/>
                <a:ea typeface="Calibri"/>
                <a:cs typeface="Calibri"/>
              </a:rPr>
              <a:t>Путь запроса посетителя</a:t>
            </a:r>
          </a:p>
        </p:txBody>
      </p:sp>
      <p:sp>
        <p:nvSpPr>
          <p:cNvPr id="17" name="architecture-stream-label">
            <a:extLst xmlns:a="http://schemas.openxmlformats.org/drawingml/2006/main">
              <a:ext uri="{FF2B5EF4-FFF2-40B4-BE49-F238E27FC236}">
                <a16:creationId xmlns:a16="http://schemas.microsoft.com/office/drawing/2014/main" id="{8D3D6AA8-FCF7-46F7-A2EA-C6911B39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574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4A556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Ответ в Telegram по SSE</a:t>
            </a:r>
          </a:p>
        </p:txBody>
      </p:sp>
      <p:sp>
        <p:nvSpPr>
          <p:cNvPr id="18" name="architecture-infra-title">
            <a:extLst xmlns:a="http://schemas.openxmlformats.org/drawingml/2006/main">
              <a:ext uri="{FF2B5EF4-FFF2-40B4-BE49-F238E27FC236}">
                <a16:creationId xmlns:a16="http://schemas.microsoft.com/office/drawing/2014/main" id="{D936EDA5-D08B-4F11-A8BF-6EC992F1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A365D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A365D"/>
                </a:solidFill>
                <a:latin typeface="Calibri"/>
                <a:ea typeface="Calibri"/>
                <a:cs typeface="Calibri"/>
              </a:rPr>
              <a:t>Инфраструктура Docker Compose</a:t>
            </a:r>
          </a:p>
        </p:txBody>
      </p:sp>
      <p:sp>
        <p:nvSpPr>
          <p:cNvPr id="19" name="architecture-redis">
            <a:extLst xmlns:a="http://schemas.openxmlformats.org/drawingml/2006/main">
              <a:ext uri="{FF2B5EF4-FFF2-40B4-BE49-F238E27FC236}">
                <a16:creationId xmlns:a16="http://schemas.microsoft.com/office/drawing/2014/main" id="{E2A5308F-8C9B-4271-8838-90BDAD82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38625"/>
            <a:ext cx="1666875" cy="72390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3335">
            <a:solidFill>
              <a:srgbClr val="9AA9B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A202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Redis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A202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кеш</a:t>
            </a:r>
          </a:p>
        </p:txBody>
      </p:sp>
      <p:sp>
        <p:nvSpPr>
          <p:cNvPr id="20" name="architecture-postgres">
            <a:extLst xmlns:a="http://schemas.openxmlformats.org/drawingml/2006/main">
              <a:ext uri="{FF2B5EF4-FFF2-40B4-BE49-F238E27FC236}">
                <a16:creationId xmlns:a16="http://schemas.microsoft.com/office/drawing/2014/main" id="{B6DD0FB3-B9B8-4857-BDDA-F05141F7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38625"/>
            <a:ext cx="2047875" cy="72390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3335">
            <a:solidFill>
              <a:srgbClr val="9AA9B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A202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PostgreSQL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A202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история и checkpoints</a:t>
            </a:r>
          </a:p>
        </p:txBody>
      </p:sp>
      <p:sp>
        <p:nvSpPr>
          <p:cNvPr id="21" name="architecture-phoenix">
            <a:extLst xmlns:a="http://schemas.openxmlformats.org/drawingml/2006/main">
              <a:ext uri="{FF2B5EF4-FFF2-40B4-BE49-F238E27FC236}">
                <a16:creationId xmlns:a16="http://schemas.microsoft.com/office/drawing/2014/main" id="{1CE8A82A-8C0E-43E9-81D6-5DE01AC9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238625"/>
            <a:ext cx="1666875" cy="72390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3335">
            <a:solidFill>
              <a:srgbClr val="9AA9B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1A202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Phoenix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1A202C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трейсы</a:t>
            </a:r>
          </a:p>
        </p:txBody>
      </p:sp>
      <p:sp>
        <p:nvSpPr>
          <p:cNvPr id="22" name="architecture-agent-title">
            <a:extLst xmlns:a="http://schemas.openxmlformats.org/drawingml/2006/main">
              <a:ext uri="{FF2B5EF4-FFF2-40B4-BE49-F238E27FC236}">
                <a16:creationId xmlns:a16="http://schemas.microsoft.com/office/drawing/2014/main" id="{88822FA1-5BA6-47DF-8640-5A6C7D12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576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A365D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A365D"/>
                </a:solidFill>
                <a:latin typeface="Calibri"/>
                <a:ea typeface="Calibri"/>
                <a:cs typeface="Calibri"/>
              </a:rPr>
              <a:t>Отдельный агентный контур</a:t>
            </a:r>
          </a:p>
        </p:txBody>
      </p:sp>
      <p:sp>
        <p:nvSpPr>
          <p:cNvPr id="23" name="architecture-agent">
            <a:extLst xmlns:a="http://schemas.openxmlformats.org/drawingml/2006/main">
              <a:ext uri="{FF2B5EF4-FFF2-40B4-BE49-F238E27FC236}">
                <a16:creationId xmlns:a16="http://schemas.microsoft.com/office/drawing/2014/main" id="{69B69025-D167-46C4-8973-8DA452EB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38625"/>
            <a:ext cx="2714625" cy="8001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3335">
            <a:solidFill>
              <a:srgbClr val="9AA9B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A202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LangGraph agent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A202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POST /agent/stream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A202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HIL перед отправкой</a:t>
            </a:r>
          </a:p>
        </p:txBody>
      </p:sp>
      <p:sp>
        <p:nvSpPr>
          <p:cNvPr id="24" name="architecture-note">
            <a:extLst xmlns:a="http://schemas.openxmlformats.org/drawingml/2006/main">
              <a:ext uri="{FF2B5EF4-FFF2-40B4-BE49-F238E27FC236}">
                <a16:creationId xmlns:a16="http://schemas.microsoft.com/office/drawing/2014/main" id="{154E580B-C803-454E-A2EA-034619BC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054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4A5568"/>
                </a:solidFill>
                <a:latin typeface="Calibri"/>
                <a:ea typeface="Calibri"/>
                <a:cs typeface="Calibri"/>
              </a:defRPr>
            </a:pPr>
            <a:r>
              <a:rPr sz="975" b="0">
                <a:solidFill>
                  <a:srgbClr val="4A5568"/>
                </a:solidFill>
                <a:latin typeface="Calibri"/>
                <a:ea typeface="Calibri"/>
                <a:cs typeface="Calibri"/>
              </a:rPr>
              <a:t>Агентный учебный контур запускается отдельно и требует подтверждения перед отправкой.</a:t>
            </a:r>
          </a:p>
        </p:txBody>
      </p:sp>
      <p:sp>
        <p:nvSpPr>
          <p:cNvPr id="25" name="architecture-volume-note">
            <a:extLst xmlns:a="http://schemas.openxmlformats.org/drawingml/2006/main">
              <a:ext uri="{FF2B5EF4-FFF2-40B4-BE49-F238E27FC236}">
                <a16:creationId xmlns:a16="http://schemas.microsoft.com/office/drawing/2014/main" id="{06ADB2F0-5166-4F4D-A83E-B7CDB6D1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72125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1A202C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Ответ возвращается в Telegram по SSE. При сбое сайта локальный RAG остаётся резервом без обещания свежей афиши.</a:t>
            </a:r>
          </a:p>
        </p:txBody>
      </p:sp>
      <p:cxnSp>
        <p:nvCxnSpPr>
          <p:cNvPr id="68" name=""/>
          <p:cNvCxnSpPr>
            <a:stCxn xmlns:a="http://schemas.openxmlformats.org/drawingml/2006/main" id="10" idx="2"/>
            <a:endCxn xmlns:a="http://schemas.openxmlformats.org/drawingml/2006/main" id="40" idx="0"/>
          </p:cNvCxnSpPr>
          <p:nvPr/>
        </p:nvCxnSpPr>
        <p:spPr>
          <a:xfrm xmlns:a="http://schemas.openxmlformats.org/drawingml/2006/main" flipH="1">
            <a:off x="7858125" y="2333625"/>
            <a:ext cx="471488" cy="314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A365D"/>
            </a:solidFill>
            <a:prstDash val="solid"/>
          </a:ln>
        </p:spPr>
      </p:cxnSp>
      <p:cxnSp>
        <p:nvCxnSpPr>
          <p:cNvPr id="69" name=""/>
          <p:cNvCxnSpPr>
            <a:stCxn xmlns:a="http://schemas.openxmlformats.org/drawingml/2006/main" id="10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8329613" y="2333625"/>
            <a:ext cx="1909763" cy="314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A365D"/>
            </a:solidFill>
            <a:prstDash val="solid"/>
          </a:ln>
        </p:spPr>
      </p:cxnSp>
      <p:cxnSp>
        <p:nvCxnSpPr>
          <p:cNvPr id="70" name=""/>
          <p:cNvCxnSpPr>
            <a:stCxn xmlns:a="http://schemas.openxmlformats.org/drawingml/2006/main" id="40" idx="0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V="1">
            <a:off x="7858125" y="2333625"/>
            <a:ext cx="2757488" cy="314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45C26"/>
            </a:solidFill>
            <a:prstDash val="solid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41" idx="0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V="1">
            <a:off x="10239375" y="2333625"/>
            <a:ext cx="376238" cy="314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45C26"/>
            </a:solidFill>
            <a:prstDash val="solid"/>
            <a:tailEnd type="triangle" w="sm" len="sm"/>
          </a:ln>
        </p:spPr>
      </p:cxnSp>
      <p:sp>
        <p:nvSpPr>
          <p:cNvPr id="10" name="architecture-qdrant">
            <a:extLst xmlns:a="http://schemas.openxmlformats.org/drawingml/2006/main">
              <a:ext uri="{FF2B5EF4-FFF2-40B4-BE49-F238E27FC236}">
                <a16:creationId xmlns:a16="http://schemas.microsoft.com/office/drawing/2014/main" id="{1861807D-EC8F-462E-B61C-437CBBF1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381125"/>
            <a:ext cx="176212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5F2F1"/>
          </a:solidFill>
          <a:ln xmlns:a="http://schemas.openxmlformats.org/drawingml/2006/main" w="13335">
            <a:solidFill>
              <a:srgbClr val="9AA9B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A202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Выбор источника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A202C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по типу вопроса</a:t>
            </a:r>
          </a:p>
        </p:txBody>
      </p:sp>
      <p:sp>
        <p:nvSpPr>
          <p:cNvPr id="40" name="architecture-official-site">
            <a:extLst xmlns:a="http://schemas.openxmlformats.org/drawingml/2006/main">
              <a:ext uri="{FF2B5EF4-FFF2-40B4-BE49-F238E27FC236}">
                <a16:creationId xmlns:a16="http://schemas.microsoft.com/office/drawing/2014/main" id="{FAAEEA27-82BF-45CB-8762-C54D5F8C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64795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9EBDD"/>
          </a:solidFill>
          <a:ln xmlns:a="http://schemas.openxmlformats.org/drawingml/2006/main" w="13335">
            <a:solidFill>
              <a:srgbClr val="9AA9BA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202C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Свежие события</a:t>
            </a:r>
          </a:p>
          <a:p xmlns:a="http://schemas.openxmlformats.org/drawingml/2006/main">
            <a:pPr algn="ctr">
              <a:defRPr sz="1200" b="1">
                <a:solidFill>
                  <a:srgbClr val="1A202C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kazan-kremlin.ru</a:t>
            </a:r>
          </a:p>
        </p:txBody>
      </p:sp>
      <p:sp>
        <p:nvSpPr>
          <p:cNvPr id="41" name="architecture-local-rag">
            <a:extLst xmlns:a="http://schemas.openxmlformats.org/drawingml/2006/main">
              <a:ext uri="{FF2B5EF4-FFF2-40B4-BE49-F238E27FC236}">
                <a16:creationId xmlns:a16="http://schemas.microsoft.com/office/drawing/2014/main" id="{FE467CA3-3817-4710-9B0D-E2F02B9E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4795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5F2F1"/>
          </a:solidFill>
          <a:ln xmlns:a="http://schemas.openxmlformats.org/drawingml/2006/main" w="13335">
            <a:solidFill>
              <a:srgbClr val="9AA9BA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A202C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Устойчивые факты</a:t>
            </a:r>
          </a:p>
          <a:p xmlns:a="http://schemas.openxmlformats.org/drawingml/2006/main">
            <a:pPr algn="ctr">
              <a:defRPr sz="1200" b="1">
                <a:solidFill>
                  <a:srgbClr val="1A202C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RAG / Qdrant</a:t>
            </a:r>
          </a:p>
        </p:txBody>
      </p:sp>
      <p:sp>
        <p:nvSpPr>
          <p:cNvPr id="11" name="architecture-llm">
            <a:extLst xmlns:a="http://schemas.openxmlformats.org/drawingml/2006/main">
              <a:ext uri="{FF2B5EF4-FFF2-40B4-BE49-F238E27FC236}">
                <a16:creationId xmlns:a16="http://schemas.microsoft.com/office/drawing/2014/main" id="{1D723FB4-86EB-4F76-BE83-425BFFFE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381125"/>
            <a:ext cx="176212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C45C26"/>
          </a:solidFill>
          <a:ln xmlns:a="http://schemas.openxmlformats.org/drawingml/2006/main" w="13335">
            <a:solidFill>
              <a:srgbClr val="9AA9B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Polza API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gpt-4o-mini</a:t>
            </a:r>
          </a:p>
        </p:txBody>
      </p:sp>
    </p:spTree>
    <p:extLst>
      <p:ext uri="{BB962C8B-B14F-4D97-AF65-F5344CB8AC3E}">
        <p14:creationId xmlns:p14="http://schemas.microsoft.com/office/powerpoint/2010/main" val="71875281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45F2FB2-87B0-44CD-92EB-2B5E0B2D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CEC01C8-5494-4F89-A0B1-F4EF768C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C2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DB5A822-3966-45F2-99E3-4FFAA977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0528"/>
            <a:ext cx="12191695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ИИ-консультант музеев Казанского Кремля   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5B5015B-DC1A-477D-84B0-96A4C80C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11247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1A365D"/>
                </a:solidFill>
                <a:latin typeface="Calibri"/>
                <a:ea typeface="Calibri"/>
                <a:cs typeface="Calibri"/>
              </a:rPr>
              <a:t>Выбор модели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369ED46-095E-4CDF-8A50-D2EF1892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97280"/>
            <a:ext cx="3566160" cy="4389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A36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Что выбрано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EB94A59-00AF-4943-9899-C84E2EEA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097280"/>
            <a:ext cx="3566160" cy="4389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A36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Из чего выбирали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15543CB2-D548-4DDF-A1C5-5E21A304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79" y="1097280"/>
            <a:ext cx="3566160" cy="4389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528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Почему так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995350D9-D64E-44B7-BA4C-1F3DD335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645919"/>
            <a:ext cx="356616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Облако: Polza, openai/gpt-4o-mini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5C1CB83C-91D8-47F9-94D0-0DCF6E5F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645919"/>
            <a:ext cx="356616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Локальная Llama 7–13B; Claude; gpt-4o полный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6D0570B-EF17-41B8-B8AC-DD41BBEF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79" y="1645919"/>
            <a:ext cx="356616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Учебный ключ, русский FAQ, бюджет $5–15/мес. Дома нет GPU под локальную 13B.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41567A77-366B-47D6-82B4-16CF5CDD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172968"/>
            <a:ext cx="356616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Эмбеддинги: text-embedding-3-small, 1536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E3775DD-C514-4EAE-98EF-CF7655FA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172968"/>
            <a:ext cx="356616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MiniLM локально; 3-large 3072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6E9FBC51-1EC5-45A2-8DA2-6D411C8AE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79" y="3172968"/>
            <a:ext cx="356616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Тот же ключ, cosine из коробки, меньше индекс. Large = другая коллекция и цена.</a:t>
            </a:r>
          </a:p>
        </p:txBody>
      </p:sp>
    </p:spTree>
    <p:extLst>
      <p:ext uri="{BB962C8B-B14F-4D97-AF65-F5344CB8AC3E}">
        <p14:creationId xmlns:p14="http://schemas.microsoft.com/office/powerpoint/2010/main" val="5083350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1D6BC92-348B-4DB3-9440-C84A76F2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EBB5825-C0A5-41C5-AC2A-8A55F3E2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C2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59CB683-EEC4-4341-882F-59170104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0528"/>
            <a:ext cx="12191695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ИИ-консультант музеев Казанского Кремля   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65E95DF-F2B0-4701-A915-27643F22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11247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1A365D"/>
                </a:solidFill>
                <a:latin typeface="Calibri"/>
                <a:ea typeface="Calibri"/>
                <a:cs typeface="Calibri"/>
              </a:rPr>
              <a:t>Хранение и поиск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15039CE-EEF2-4CFB-8E03-C313F92E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•  Векторная база Qdrant, cosine. Коллекция прода rag_eval_1024 — не учебная documents (другой payload).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•  Нарезка fixed 1024 / overlap 64. Retrieve 24 → дедуп копий файла → в модель 5 кусков.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•  По retrieval (Hit@5) выигрывал chunk 512. По ответу RAGAS выиграл 1024: короткий прайс целиком в чанке, relevancy 0.75, citation 1.00.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•  top_n=10 и reranker на CPU не взяли: шум в промпте / секунды на запрос без роста MRR.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•  Порог 0.38: ниже — отказ без вызова модели (ЧМ-2018 даёт ~0.1).</a:t>
            </a:r>
          </a:p>
        </p:txBody>
      </p:sp>
    </p:spTree>
    <p:extLst>
      <p:ext uri="{BB962C8B-B14F-4D97-AF65-F5344CB8AC3E}">
        <p14:creationId xmlns:p14="http://schemas.microsoft.com/office/powerpoint/2010/main" val="125967078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E8E0515-5841-43EA-B8F9-61EBD77D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0B26F37-B355-4802-97C6-75DA2143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C2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846F865-90A3-4800-BF65-EB5CD05F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0528"/>
            <a:ext cx="12191695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ИИ-консультант музеев Казанского Кремля   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8590ECF-79B1-402E-A097-EDA03F06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11247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1A365D"/>
                </a:solidFill>
                <a:latin typeface="Calibri"/>
                <a:ea typeface="Calibri"/>
                <a:cs typeface="Calibri"/>
              </a:rPr>
              <a:t>Агентный слой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DF4799A-AE94-462D-8150-7F47FD9F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97280"/>
            <a:ext cx="3566160" cy="4389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A36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Что выбрано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FE82220-B718-48D3-B7BC-F7A57FD9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097280"/>
            <a:ext cx="3566160" cy="4389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A36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Из чего выбирали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E3808630-9E17-4F81-B000-B2720765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79" y="1097280"/>
            <a:ext cx="3566160" cy="4389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528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Почему так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10EEC489-7208-4DC6-9D39-C760705A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645919"/>
            <a:ext cx="356616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Один агент, 3 tools, HIL на отправке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4AD50F16-1579-48B0-BC01-9ECC2D1C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645919"/>
            <a:ext cx="356616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Только RAG без агента; командир + researcher + writer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D641887E-93B7-4840-9589-C8F19D72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79" y="1645919"/>
            <a:ext cx="356616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Агент нужен, когда сам выбирает поиск / время / отправку. Отправка без «да» недопустима.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B72AB85-059B-4836-A716-97364291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172968"/>
            <a:ext cx="356616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Мультиагент не в прод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ED1E24B5-DB2C-4022-94CF-9719B0A7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172968"/>
            <a:ext cx="356616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Supervisor LangGraph; Swarm; CrewAI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76D0D5E0-06F9-4F12-86FF-098C3B64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79" y="3172968"/>
            <a:ext cx="356616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Прогон: токены ×1.77, на двух фактах — ложный отказ. Музей — общий контекст, не research ×15 токенов.</a:t>
            </a:r>
          </a:p>
        </p:txBody>
      </p:sp>
    </p:spTree>
    <p:extLst>
      <p:ext uri="{BB962C8B-B14F-4D97-AF65-F5344CB8AC3E}">
        <p14:creationId xmlns:p14="http://schemas.microsoft.com/office/powerpoint/2010/main" val="102935111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98E4008-D8BD-45AA-96E2-4582EE15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72ED2CF-4CCE-49A7-8D9B-1D6A96E3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C2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18FB445-C2F2-4383-B812-FEF4B6A5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0528"/>
            <a:ext cx="12191695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ИИ-консультант музеев Казанского Кремля   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5D83EAF-4443-418B-9EBD-0C318AE6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11247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1A365D"/>
                </a:solidFill>
                <a:latin typeface="Calibri"/>
                <a:ea typeface="Calibri"/>
                <a:cs typeface="Calibri"/>
              </a:rPr>
              <a:t>Поведение при сбоях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D72BB6F-257A-420A-A86B-4FE669FF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•  Официальный сайт недоступен: локальный RAG остаётся резервом, но бот не выдаёт старую афишу за актуальную.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•  LLM недоступен: кнопки «Часы / Билеты» отвечают без модели; свободный текст получает спокойную ошибку.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•  Qdrant не поднялся: API и маршрут свежих сведений с официального сайта продолжают работать.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•  Redis недоступен: запрос выполняется без кеша. Postgres недоступен: история переключается на JSON.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•  Checkpoint агента сохраняет паузу подтверждения при том же thread_id.</a:t>
            </a:r>
          </a:p>
        </p:txBody>
      </p:sp>
    </p:spTree>
    <p:extLst>
      <p:ext uri="{BB962C8B-B14F-4D97-AF65-F5344CB8AC3E}">
        <p14:creationId xmlns:p14="http://schemas.microsoft.com/office/powerpoint/2010/main" val="184474783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4C03F54-DE15-4E30-A5CA-7830ADB1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6E5B3F1-1B71-4A22-93BD-26E892D2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C2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878CCEC-2A14-4182-AC28-C528D0BC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0528"/>
            <a:ext cx="12191695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ИИ-консультант музеев Казанского Кремля   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C9923BF-48BC-41D0-B045-3F76312B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11247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1A365D"/>
                </a:solidFill>
                <a:latin typeface="Calibri"/>
                <a:ea typeface="Calibri"/>
                <a:cs typeface="Calibri"/>
              </a:rPr>
              <a:t>Результат: как проверяли качество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CD27E96-C08D-4ACE-A017-ADF9ED05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•  Golden: 32 вычитанные пары. Не «пять вопросов на глаз» (шум судьи ±5–10%).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•  RAGAS на chunk 1024: faithfulness 0.94 · answer_relevancy 0.75 · has_citation 1.00 · recall 1.00.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•  A/B: 512 vs 1024 (победил 1024); top_n 5 vs 10 (десятка хуже по faith и citation).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•  Phoenix: видно retriever / embed / LLM. Агент: SSE updates + interrupt.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•  Честно: судья иногда ставит faith=0 на верные «450 ₽» при recall=1 — это в отчёте, не прячем.</a:t>
            </a:r>
          </a:p>
        </p:txBody>
      </p:sp>
    </p:spTree>
    <p:extLst>
      <p:ext uri="{BB962C8B-B14F-4D97-AF65-F5344CB8AC3E}">
        <p14:creationId xmlns:p14="http://schemas.microsoft.com/office/powerpoint/2010/main" val="84374880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CC88A3A-4696-4538-BF5E-93D84DF4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A29DC0B-B127-4CB4-874A-CB40A36F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C2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EDCBFA8-0BDD-4519-B766-EFD506CF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10528"/>
            <a:ext cx="12191695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ИИ-консультант музеев Казанского Кремля   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9E1A4CF-D05D-4DC3-A6C9-3DBA04F1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"/>
            <a:ext cx="112471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1A365D"/>
                </a:solidFill>
                <a:latin typeface="Calibri"/>
                <a:ea typeface="Calibri"/>
                <a:cs typeface="Calibri"/>
              </a:rPr>
              <a:t>Ограничения и планы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CCC7B9E-D3CC-493B-890A-5BC415F1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11155680" cy="512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•  Текущая афиша зависит от доступности и структуры официального сайта; кеш действует около 10 минут.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•  Бот посетителя не вызывает учебный агентный граф; агент демонстрируется отдельным endpoint.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•  Отправка из агентного графа — учебная заглушка, живого тикета сотруднику музея нет.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•  Нет отдельного лимита запросов на посетителя.</a:t>
            </a:r>
          </a:p>
          <a:p xmlns:a="http://schemas.openxmlformats.org/drawingml/2006/main">
            <a:pPr>
              <a:spcAft>
                <a:spcPts val="1000"/>
              </a:spcAft>
              <a:buNone/>
            </a:pPr>
            <a:r>
              <a:rPr sz="1600" b="0">
                <a:solidFill>
                  <a:srgbClr val="1A202C"/>
                </a:solidFill>
                <a:latin typeface="Calibri"/>
                <a:ea typeface="Calibri"/>
                <a:cs typeface="Calibri"/>
              </a:rPr>
              <a:t>•  Для работы 24/7 нужен сервер; домашний компьютер используется только для демонстрации.</a:t>
            </a:r>
          </a:p>
        </p:txBody>
      </p:sp>
    </p:spTree>
    <p:extLst>
      <p:ext uri="{BB962C8B-B14F-4D97-AF65-F5344CB8AC3E}">
        <p14:creationId xmlns:p14="http://schemas.microsoft.com/office/powerpoint/2010/main" val="46286144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CC5CDFE-A6BC-4384-85E0-0B7702FF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EBC2611-D11D-4E98-B9CE-D6E1D087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65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A27C152-DB30-417B-9C0F-02BEC735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6052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5C2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6E48E52-51A2-4BB0-B01A-456671B0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616" y="2103120"/>
            <a:ext cx="5112298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Спасибо</a:t>
            </a:r>
            <a:r>
              <a:rPr sz="4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за внимание </a:t>
            </a:r>
            <a:endParaRPr sz="400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93D3B0D-9D46-478E-B595-21B57D2F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572000"/>
            <a:ext cx="99669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0">
                <a:solidFill>
                  <a:srgbClr val="C5D0DE"/>
                </a:solidFill>
                <a:latin typeface="Calibri"/>
                <a:ea typeface="Calibri"/>
                <a:cs typeface="Calibri"/>
              </a:rPr>
              <a:t>Цифры</a:t>
            </a:r>
            <a:r>
              <a:rPr sz="1400" b="0">
                <a:solidFill>
                  <a:srgbClr val="C5D0DE"/>
                </a:solidFill>
                <a:latin typeface="Calibri"/>
                <a:ea typeface="Calibri"/>
                <a:cs typeface="Calibri"/>
              </a:rPr>
              <a:t>: docs/rag_evaluation.md   ·   </a:t>
            </a:r>
            <a:r>
              <a:rPr sz="1400" b="0">
                <a:solidFill>
                  <a:srgbClr val="C5D0DE"/>
                </a:solidFill>
                <a:latin typeface="Calibri"/>
                <a:ea typeface="Calibri"/>
                <a:cs typeface="Calibri"/>
              </a:rPr>
              <a:t>Решения</a:t>
            </a:r>
            <a:r>
              <a:rPr sz="1400" b="0">
                <a:solidFill>
                  <a:srgbClr val="C5D0DE"/>
                </a:solidFill>
                <a:latin typeface="Calibri"/>
                <a:ea typeface="Calibri"/>
                <a:cs typeface="Calibri"/>
              </a:rPr>
              <a:t>: docs/decisions.md   ·   </a:t>
            </a:r>
            <a:r>
              <a:rPr sz="1400" b="0">
                <a:solidFill>
                  <a:srgbClr val="C5D0DE"/>
                </a:solidFill>
                <a:latin typeface="Calibri"/>
                <a:ea typeface="Calibri"/>
                <a:cs typeface="Calibri"/>
              </a:rPr>
              <a:t>Почему</a:t>
            </a:r>
            <a:r>
              <a:rPr sz="1400" b="0">
                <a:solidFill>
                  <a:srgbClr val="C5D0D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>
                <a:solidFill>
                  <a:srgbClr val="C5D0DE"/>
                </a:solidFill>
                <a:latin typeface="Calibri"/>
                <a:ea typeface="Calibri"/>
                <a:cs typeface="Calibri"/>
              </a:rPr>
              <a:t>не</a:t>
            </a:r>
            <a:r>
              <a:rPr sz="1400" b="0">
                <a:solidFill>
                  <a:srgbClr val="C5D0DE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400" b="0">
                <a:solidFill>
                  <a:srgbClr val="C5D0DE"/>
                </a:solidFill>
                <a:latin typeface="Calibri"/>
                <a:ea typeface="Calibri"/>
                <a:cs typeface="Calibri"/>
              </a:rPr>
              <a:t>мультиагент</a:t>
            </a:r>
            <a:r>
              <a:rPr sz="1400" b="0">
                <a:solidFill>
                  <a:srgbClr val="C5D0DE"/>
                </a:solidFill>
                <a:latin typeface="Calibri"/>
                <a:ea typeface="Calibri"/>
                <a:cs typeface="Calibri"/>
              </a:rPr>
              <a:t>: docs/multi-agent-report.md</a:t>
            </a:r>
          </a:p>
        </p:txBody>
      </p:sp>
    </p:spTree>
    <p:extLst>
      <p:ext uri="{BB962C8B-B14F-4D97-AF65-F5344CB8AC3E}">
        <p14:creationId xmlns:p14="http://schemas.microsoft.com/office/powerpoint/2010/main" val="209410448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2026-09-23T08:26:31.1470000Z</dcterms:created>
  <dcterms:modified xsi:type="dcterms:W3CDTF">2026-09-23T08:26:31.1470000Z</dcterms:modified>
</coreProperties>
</file>